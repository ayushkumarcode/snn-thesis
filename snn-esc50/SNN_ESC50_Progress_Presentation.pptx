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67" r:id="rId19"/>
    <p:sldId id="275" r:id="rId20"/>
    <p:sldId id="274" r:id="rId21"/>
    <p:sldId id="26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3"/>
  </p:normalViewPr>
  <p:slideViewPr>
    <p:cSldViewPr snapToGrid="0" snapToObjects="1">
      <p:cViewPr varScale="1">
        <p:scale>
          <a:sx n="118" d="100"/>
          <a:sy n="118" d="100"/>
        </p:scale>
        <p:origin x="11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3108960"/>
            <a:ext cx="8534095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SNN for Environmental Sound Classification on ESC-50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C8DCF0"/>
                </a:solidFill>
                <a:latin typeface="Calibri"/>
              </a:rPr>
              <a:t>COMP30040 Thesis Progress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Ayush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B4C8DC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Project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sz="2000" b="1" dirty="0">
                <a:solidFill>
                  <a:srgbClr val="333333"/>
                </a:solidFill>
                <a:latin typeface="Calibri"/>
              </a:rPr>
              <a:t>First application of Spiking Neural Networks to the ESC-50 dataset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sz="1800" b="0" dirty="0">
                <a:solidFill>
                  <a:srgbClr val="333333"/>
                </a:solidFill>
                <a:latin typeface="Calibri"/>
              </a:rPr>
              <a:t>Research question: How do different spike encoding methods affect</a:t>
            </a:r>
            <a:r>
              <a:rPr lang="en-US" sz="18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333333"/>
                </a:solidFill>
                <a:latin typeface="Calibri"/>
              </a:rPr>
              <a:t>SNN performance on environmental sound classification?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sz="1800" b="0" dirty="0">
                <a:solidFill>
                  <a:srgbClr val="333333"/>
                </a:solidFill>
                <a:latin typeface="Calibri"/>
              </a:rPr>
              <a:t>Compare 4 encoding methods: rate, delta, latency, direct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sz="1800" b="0" dirty="0">
                <a:solidFill>
                  <a:srgbClr val="333333"/>
                </a:solidFill>
                <a:latin typeface="Calibri"/>
              </a:rPr>
              <a:t>Measure accuracy vs ANN baseline + energy consumption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ESC-50: Environmental Sound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2,000 audio clips  |  5 seconds each  |  50 classes  |  40 clips per class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5 predefined folds for cross-validation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Example Classes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366"/>
                          </a:solidFill>
                          <a:latin typeface="Calibri"/>
                        </a:rPr>
                        <a:t>Animals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dog, cat, rooster, cow, frog, pig,
hen, insects, sheep, crow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366"/>
                          </a:solidFill>
                          <a:latin typeface="Calibri"/>
                        </a:rPr>
                        <a:t>Nature / 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rain, sea waves, fire, crickets,
birds, wind, thunderstorm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366"/>
                          </a:solidFill>
                          <a:latin typeface="Calibri"/>
                        </a:rPr>
                        <a:t>Human (non-speech)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crying baby, sneezing, clapping,
laughing, coughing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366"/>
                          </a:solidFill>
                          <a:latin typeface="Calibri"/>
                        </a:rPr>
                        <a:t>Interior / Domestic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keyboard, mouse click, door knock,
vacuum, washing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366"/>
                          </a:solidFill>
                          <a:latin typeface="Calibri"/>
                        </a:rPr>
                        <a:t>Exterior / Urban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helicopter, chainsaw, siren,
car horn, airplane, train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194560" cy="91440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3366"/>
                </a:solidFill>
                <a:latin typeface="Calibri"/>
              </a:rPr>
              <a:t>5-sec
WAV Audio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926080" cy="91440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3366"/>
                </a:solidFill>
                <a:latin typeface="Calibri"/>
              </a:rPr>
              <a:t>Mel Spectrogram
(64 x 216 image)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194560" cy="91440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3366"/>
                </a:solidFill>
                <a:latin typeface="Calibri"/>
              </a:rPr>
              <a:t>Spike
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463040"/>
            <a:ext cx="2377440" cy="91440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3366"/>
                </a:solidFill>
                <a:latin typeface="Calibri"/>
              </a:rPr>
              <a:t>SNN
Classification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40" y="1691640"/>
            <a:ext cx="502920" cy="3200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6172200" y="1691640"/>
            <a:ext cx="502920" cy="3200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915400" y="1691640"/>
            <a:ext cx="502920" cy="3200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Mel spectrogram: breaks audio into time-frequency representation, uses mel scale matching human hearing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64 mel frequency bins x 216 time frames = audio treated as a greyscale image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Spike encoding converts this image into binary spike trains for the SNN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Network Architecture (SNN &amp; ANN)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 / Operation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Layer 1: Conv2d(1 → 32)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32 small 3×3 filters scan the spectrogram detecting basic patterns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BatchNorm + MaxPool(2)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Normalise, then shrink by half (64×216 → 32×108)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LIF neuron (SNN) / ReLU (ANN)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SNN: accumulates input, fires binary spike when threshold crossed.
ANN: just outputs max(0, x)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Layer 2: Conv2d(32 → 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64 filters detect higher-level pattern combinations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BatchNorm + MaxPool(2)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Shrink again (32×108 → 16×54)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AvgPool(4,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Compress to 4×9 = 2,304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FC: 2304 → 256 → 50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Classify into 50 sound classes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66B3"/>
                </a:solidFill>
                <a:latin typeface="Calibri"/>
              </a:rPr>
              <a:t>Both models have identical structure; only activation differs (LIF vs ReLU)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This Architecture?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Conv layers (32→64 filters, 3x3 kernels):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Followed standard CNN audio classification patterns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Filter doubling (32→64) is a common convention from VGGNet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2 conv layers keeps it simple — deeper nets need more data than ESC-50’s 1,600 training samples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LIF neuron parameters: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beta=0.95 and 25 timesteps from snnTorch tutorials (Eshraghian et al.)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beta=0.95 means the neuron retains 95% of its voltage each step — reasonable decay rate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25 timesteps balances temporal dynamics vs training speed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Mel spectrogram (64 bins, hop=512, sr=22050):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Standard librosa defaults for audio classification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64 mel bins is the most common choice in existing ESC-50 ANN work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22050 Hz is enough for environmental sounds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Training setup (Adam, lr=1e-3, early stopping):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Standard deep learning defaults — nothing exotic here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No hyperparameter search done; focus was on the SNN vs ANN comparison, not tuning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0066B3"/>
                </a:solidFill>
                <a:latin typeface="Calibri"/>
              </a:rPr>
              <a:t>Bottom line: mostly snnTorch tutorials + standard audio ML conventions. Room to improve with proper hyperparameter optimisation.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Progress: Completed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solidFill>
                  <a:srgbClr val="008000"/>
                </a:solidFill>
                <a:latin typeface="Calibri"/>
              </a:rPr>
              <a:t>✓  </a:t>
            </a:r>
            <a:r>
              <a:rPr sz="1800">
                <a:solidFill>
                  <a:srgbClr val="333333"/>
                </a:solidFill>
                <a:latin typeface="Calibri"/>
              </a:rPr>
              <a:t>Data pipeline: WAV → mel spectrogram → PyTorch tensors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solidFill>
                  <a:srgbClr val="008000"/>
                </a:solidFill>
                <a:latin typeface="Calibri"/>
              </a:rPr>
              <a:t>✓  </a:t>
            </a:r>
            <a:r>
              <a:rPr sz="1800">
                <a:solidFill>
                  <a:srgbClr val="333333"/>
                </a:solidFill>
                <a:latin typeface="Calibri"/>
              </a:rPr>
              <a:t>ANN baseline trained (5-fold CV on CSF3 A100 GPUs)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solidFill>
                  <a:srgbClr val="008000"/>
                </a:solidFill>
                <a:latin typeface="Calibri"/>
              </a:rPr>
              <a:t>✓  </a:t>
            </a:r>
            <a:r>
              <a:rPr sz="1800">
                <a:solidFill>
                  <a:srgbClr val="333333"/>
                </a:solidFill>
                <a:latin typeface="Calibri"/>
              </a:rPr>
              <a:t>SNN trained with 4 encoding methods (5-fold CV each)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solidFill>
                  <a:srgbClr val="008000"/>
                </a:solidFill>
                <a:latin typeface="Calibri"/>
              </a:rPr>
              <a:t>✓  </a:t>
            </a:r>
            <a:r>
              <a:rPr sz="1800">
                <a:solidFill>
                  <a:srgbClr val="333333"/>
                </a:solidFill>
                <a:latin typeface="Calibri"/>
              </a:rPr>
              <a:t>Energy analysis: SynOps vs MACs comparison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solidFill>
                  <a:srgbClr val="008000"/>
                </a:solidFill>
                <a:latin typeface="Calibri"/>
              </a:rPr>
              <a:t>✓  </a:t>
            </a:r>
            <a:r>
              <a:rPr sz="1800">
                <a:solidFill>
                  <a:srgbClr val="333333"/>
                </a:solidFill>
                <a:latin typeface="Calibri"/>
              </a:rPr>
              <a:t>Confusion matrices + per-class accuracy for all experiments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solidFill>
                  <a:srgbClr val="008000"/>
                </a:solidFill>
                <a:latin typeface="Calibri"/>
              </a:rPr>
              <a:t>✓  </a:t>
            </a:r>
            <a:r>
              <a:rPr sz="1800">
                <a:solidFill>
                  <a:srgbClr val="333333"/>
                </a:solidFill>
                <a:latin typeface="Calibri"/>
              </a:rPr>
              <a:t>SpiNNaker deployment in progress (live on real hardware)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solidFill>
                  <a:srgbClr val="008000"/>
                </a:solidFill>
                <a:latin typeface="Calibri"/>
              </a:rPr>
              <a:t>✓  </a:t>
            </a:r>
            <a:r>
              <a:rPr sz="1800">
                <a:solidFill>
                  <a:srgbClr val="333333"/>
                </a:solidFill>
                <a:latin typeface="Calibri"/>
              </a:rPr>
              <a:t>Literature review of SNN audio classification landscape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Classification Accuracy (5-Fold CV)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Encoding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 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333"/>
                          </a:solidFill>
                          <a:latin typeface="Calibri"/>
                        </a:rPr>
                        <a:t>ANN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3366"/>
                          </a:solidFill>
                          <a:latin typeface="Calibri"/>
                        </a:rPr>
                        <a:t>63.85%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±3.07%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SNN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3366"/>
                          </a:solidFill>
                          <a:latin typeface="Calibri"/>
                        </a:rPr>
                        <a:t>47.15%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±4.50%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SNN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3366"/>
                          </a:solidFill>
                          <a:latin typeface="Calibri"/>
                        </a:rPr>
                        <a:t>24.00%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±1.90%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SNN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3366"/>
                          </a:solidFill>
                          <a:latin typeface="Calibri"/>
                        </a:rPr>
                        <a:t>16.30%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±1.62%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SNN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3366"/>
                          </a:solidFill>
                          <a:latin typeface="Calibri"/>
                        </a:rPr>
                        <a:t>7.25%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±0.94%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846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Direct encoding (no spike conversion) performs best. Random chance = 2%.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646464"/>
                </a:solidFill>
                <a:latin typeface="Calibri"/>
              </a:rPr>
              <a:t>All training done on university CSF3 cluster with NVIDIA A100 GPUs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SNN Audio Classification: Where We Fit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Best SNN Acc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SHD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Spoken digits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Bittar &amp; Garner 2022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RWCP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Indoor sounds (19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99.6%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Wu et al.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TIDIGITS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Digit recognition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Dong et al. 2023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Google 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Keyword spotting (35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95.1%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Stewart et al.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UrbanSound8K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Urban sounds (10 classes)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~75%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ESC-10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Env. sounds (10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66.1%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Dennis et al. 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366"/>
                          </a:solidFill>
                          <a:latin typeface="Calibri"/>
                        </a:rPr>
                        <a:t>ESC-50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Env. sounds (50 classes)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3366"/>
                          </a:solidFill>
                          <a:latin typeface="Calibri"/>
                        </a:rPr>
                        <a:t>47.15% (ours)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3366"/>
                          </a:solidFill>
                          <a:latin typeface="Calibri"/>
                        </a:rPr>
                        <a:t>First SNN attempt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577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ESC-50 is harder: 50 classes vs 10–35 in prior work, and sounds are more diverse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Energy Comparison: SNN vs ANN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029200" cy="2743200"/>
          </a:xfrm>
          <a:prstGeom prst="roundRect">
            <a:avLst/>
          </a:prstGeom>
          <a:solidFill>
            <a:srgbClr val="EB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003366"/>
                </a:solidFill>
                <a:latin typeface="Calibri"/>
              </a:rPr>
              <a:t>SNN (Software Simulation)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1.51 billion SynOps per sample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0.9 pJ per SynOp (Loihi estimate)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Total: 1,358 million pJ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EBFFEB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50876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006400"/>
                </a:solidFill>
                <a:latin typeface="Calibri"/>
              </a:rPr>
              <a:t>ANN (Traditional)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68.3 million MACs per sample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4.6 pJ per MAC (45nm CMOS)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6400"/>
                </a:solidFill>
                <a:latin typeface="Calibri"/>
              </a:rPr>
              <a:t>Total: 314 million pJ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646464"/>
                </a:solidFill>
                <a:latin typeface="Calibri"/>
              </a:rPr>
              <a:t>pJ (picojoule) = 10⁻² joules — standard unit for per-operation energy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646464"/>
                </a:solidFill>
                <a:latin typeface="Calibri"/>
              </a:rPr>
              <a:t>SynOp = when a spike travels along a synapse (SNN operation)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646464"/>
                </a:solidFill>
                <a:latin typeface="Calibri"/>
              </a:rPr>
              <a:t>MAC = multiply-accumulate (ANN operation)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</a:pPr>
            <a:r>
              <a:rPr sz="1400" b="1">
                <a:solidFill>
                  <a:srgbClr val="0066B3"/>
                </a:solidFill>
                <a:latin typeface="Calibri"/>
              </a:rPr>
              <a:t>SNN uses 4.3× MORE energy in software simulation. But neuromorphic hardware (Loihi, SpiNNaker) processes spikes event-driven — only computing when spikes occur — which is where real savings emerge.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What We've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333333"/>
                </a:solidFill>
                <a:latin typeface="Calibri"/>
              </a:rPr>
              <a:t>Direct encoding works best because it lets the network learn its own temporal coding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333333"/>
                </a:solidFill>
                <a:latin typeface="Calibri"/>
              </a:rPr>
              <a:t>Rate encoding (24%) shows temporal information helps but naive conversion loses spatial structure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333333"/>
                </a:solidFill>
                <a:latin typeface="Calibri"/>
              </a:rPr>
              <a:t>Delta encoding (7.25%) near-random — change-based coding doesn't suit spectrograms well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333333"/>
                </a:solidFill>
                <a:latin typeface="Calibri"/>
              </a:rPr>
              <a:t>SNN accuracy gap vs ANN (47% vs 64%) is expected — consistent with literature (SNNs trade accuracy for efficiency)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333333"/>
                </a:solidFill>
                <a:latin typeface="Calibri"/>
              </a:rPr>
              <a:t>Energy results show software simulation doesn't capture event-driven efficiency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333333"/>
                </a:solidFill>
                <a:latin typeface="Calibri"/>
              </a:rPr>
              <a:t>The real energy advantage requires neuromorphic hardware (</a:t>
            </a:r>
            <a:r>
              <a:rPr sz="1700" b="0" dirty="0" err="1">
                <a:solidFill>
                  <a:srgbClr val="333333"/>
                </a:solidFill>
                <a:latin typeface="Calibri"/>
              </a:rPr>
              <a:t>SpiNNaker</a:t>
            </a:r>
            <a:r>
              <a:rPr sz="1700" b="0" dirty="0">
                <a:solidFill>
                  <a:srgbClr val="333333"/>
                </a:solidFill>
                <a:latin typeface="Calibri"/>
              </a:rPr>
              <a:t> deployment in progress)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0"/>
              </a:spcBef>
            </a:pPr>
            <a:r>
              <a:rPr sz="3000" b="1">
                <a:solidFill>
                  <a:srgbClr val="FFFFFF"/>
                </a:solidFill>
              </a:rPr>
              <a:t>SpiNNaker Deployment – What We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66B3"/>
                </a:solidFill>
              </a:rPr>
              <a:t>Deployment strategy: FC-only hybrid approach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Conv features extracted on CPU (offline preprocessing)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FC classifier (2304 → 256 → 50 LIF neurons) deployed to SpiNNaker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SpiNNaker1 doesn't support Conv2d natively → hybrid approach is standard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Language: Python (via PyNN / sPyNNaker library)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Hardware: SpiNN-5 board (48 ARM968 cores/chip, 47-48 chips/board)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Access: Remote via spalloc server at spinnaker.cs.man.ac.uk (Univ. of Manchester)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Software stack: sPyNNaker 7.4.1, PyNN 0.12.4, SpiNNMan 7.4.1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</a:rPr>
              <a:t>Documentation sources: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646464"/>
                </a:solidFill>
              </a:rPr>
              <a:t>Official sPyNNaker docs: spinnakermanchester.github.io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646464"/>
                </a:solidFill>
              </a:rPr>
              <a:t>PyNN documentation (standardised SNN simulator API)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646464"/>
                </a:solidFill>
              </a:rPr>
              <a:t>SpiNNaker GitHub repos (SpiNNakerManchester org)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646464"/>
                </a:solidFill>
              </a:rPr>
              <a:t>sPyNNaker tutorials and 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0"/>
              </a:spcBef>
            </a:pPr>
            <a:r>
              <a:rPr sz="3000" b="1">
                <a:solidFill>
                  <a:srgbClr val="FFFFFF"/>
                </a:solidFill>
              </a:rPr>
              <a:t>SpiNNaker – Parameter Mapping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66B3"/>
                </a:solidFill>
              </a:rPr>
              <a:t>snnTorch model uses snn.Leaky (LIF neuron):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beta = 0.95, threshold = 1.0, reset = 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V[t+1] = 0.95 * V[t] + I  (direct current injection)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2000" b="1">
                <a:solidFill>
                  <a:srgbClr val="0066B3"/>
                </a:solidFill>
              </a:rPr>
              <a:t>sPyNNaker uses IF_curr_exp neuron model: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tau_m = 20.0ms  (gives beta ≈ 0.951 via exp(−1/20))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v_thresh = 1.0, v_reset = 0.0, v_rest = 0.0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CC0000"/>
                </a:solidFill>
              </a:rPr>
              <a:t>BUT: has exponential synaptic current decay (tau_syn_E/I)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Current decays BEFORE reaching membrane → effective input is weaker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2000" b="1">
                <a:solidFill>
                  <a:srgbClr val="0066B3"/>
                </a:solidFill>
              </a:rPr>
              <a:t>Weight conversion: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snnTorch weights → (pre_idx, post_idx, weight, delay) format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</a:rPr>
              <a:t>Excitatory/inhibitory weights separated (sPyNNaker requirement)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0"/>
              </a:spcBef>
            </a:pPr>
            <a:r>
              <a:rPr sz="3000" b="1">
                <a:solidFill>
                  <a:srgbClr val="FFFFFF"/>
                </a:solidFill>
              </a:rPr>
              <a:t>SpiNNaker – Run Results &amp;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CC0000"/>
                </a:solidFill>
              </a:rPr>
              <a:t>Run 1 (20 samples): 0% accuracy (0/20 correct)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Input spikes active: 17,000 – 35,000 per sample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700" b="1">
                <a:solidFill>
                  <a:srgbClr val="333333"/>
                </a:solidFill>
              </a:rPr>
              <a:t>Hidden layer spikes: 0 (complete signal death)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Output layer spikes: 0 → every sample defaults to prediction = class 0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900" b="1">
                <a:solidFill>
                  <a:srgbClr val="CC0000"/>
                </a:solidFill>
              </a:rPr>
              <a:t>Run 2 (20 samples): 0% accuracy – confirms systematic issue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900" b="1">
                <a:solidFill>
                  <a:srgbClr val="CC0000"/>
                </a:solidFill>
              </a:rPr>
              <a:t>Run 3: Crashed with OSError: [Errno 55] No buffer space available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UDP buffer overflow when loading 451K connections to the board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Weight pruning at threshold=0.005 retained 80% of connections (too many)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SpinnmanIOException: Error sending: [Errno 55] No buffer space available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900" b="1">
                <a:solidFill>
                  <a:srgbClr val="0066B3"/>
                </a:solidFill>
              </a:rPr>
              <a:t>Key Error Codes from Logs: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C6600"/>
                </a:solidFill>
              </a:rPr>
              <a:t>WARNING: "Danger of SpikeSourceArray sending too many spikes at the same time"</a:t>
            </a:r>
          </a:p>
          <a:p>
            <a:pPr lvl="2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646464"/>
                </a:solidFill>
              </a:rPr>
              <a:t>e.g. at time 23.0, 1398 spikes will be sent simultaneously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C6600"/>
                </a:solidFill>
              </a:rPr>
              <a:t>ERROR: "Could not read the status count – going to individual cores"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C6600"/>
                </a:solidFill>
              </a:rPr>
              <a:t>WARNING: "Could not read information from 23 cores"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C6600"/>
                </a:solidFill>
              </a:rPr>
              <a:t>SpinnmanTimeoutException: Operation SCPCommand.CMD_NNP timed out (1.0s)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0"/>
              </a:spcBef>
            </a:pPr>
            <a:r>
              <a:rPr sz="3000" b="1">
                <a:solidFill>
                  <a:srgbClr val="FFFFFF"/>
                </a:solidFill>
              </a:rPr>
              <a:t>SpiNNaker – Root Cause Analysis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66B3"/>
                </a:solidFill>
              </a:rPr>
              <a:t>Root Causes Identified: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1. Synaptic current model mismatch: snnTorch has NO synaptic current decay;
    sPyNNaker IF_curr_exp has exponential decay. Current decays before membrane integration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2. Weight scale: Trained weights are too small for sPyNNaker's current dynamics
    → neurons never reach threshold (V &lt; 1.0)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3. Connection overload: 451K connections overflows UDP buffer during transfer.
    Need more aggressive pruning (threshold &gt; 0.05)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4. Spike flooding: ~1400 simultaneous spikes per timestep exceeds
    SpiNNaker's packet routing capacity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000" b="1">
                <a:solidFill>
                  <a:srgbClr val="0066B3"/>
                </a:solidFill>
              </a:rPr>
              <a:t>What to Try Next: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Increase weight scale (multiply all weights by 2–5x)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Use tau_syn_E = tau_syn_I = 0.1 (near-instantaneous, closer to snnTorch)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More aggressive weight pruning (threshold = 0.1+)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Reduce input dimensionality (PCA on conv features before SpiNNaker)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Try IF_curr_delta neuron model (no exponential current decay at all)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0"/>
              </a:spcBef>
            </a:pPr>
            <a:r>
              <a:rPr sz="3000" b="1" dirty="0" err="1">
                <a:solidFill>
                  <a:srgbClr val="FFFFFF"/>
                </a:solidFill>
              </a:rPr>
              <a:t>SpiNNaker</a:t>
            </a:r>
            <a:r>
              <a:rPr sz="3000" b="1" dirty="0">
                <a:solidFill>
                  <a:srgbClr val="FFFFFF"/>
                </a:solidFill>
              </a:rPr>
              <a:t> – Questions for </a:t>
            </a:r>
            <a:r>
              <a:rPr lang="en-US" sz="3000" b="1" dirty="0">
                <a:solidFill>
                  <a:srgbClr val="FFFFFF"/>
                </a:solidFill>
              </a:rPr>
              <a:t>Dr. Rhodes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0" dirty="0">
                <a:solidFill>
                  <a:srgbClr val="333333"/>
                </a:solidFill>
              </a:rPr>
              <a:t>Is </a:t>
            </a:r>
            <a:r>
              <a:rPr sz="2200" b="0" dirty="0" err="1">
                <a:solidFill>
                  <a:srgbClr val="333333"/>
                </a:solidFill>
              </a:rPr>
              <a:t>IF_curr_delta</a:t>
            </a:r>
            <a:r>
              <a:rPr sz="2200" b="0" dirty="0">
                <a:solidFill>
                  <a:srgbClr val="333333"/>
                </a:solidFill>
              </a:rPr>
              <a:t> available on </a:t>
            </a:r>
            <a:r>
              <a:rPr sz="2200" b="0" dirty="0" err="1">
                <a:solidFill>
                  <a:srgbClr val="333333"/>
                </a:solidFill>
              </a:rPr>
              <a:t>SpiNNaker</a:t>
            </a:r>
            <a:r>
              <a:rPr sz="2200" b="0" dirty="0">
                <a:solidFill>
                  <a:srgbClr val="333333"/>
                </a:solidFill>
              </a:rPr>
              <a:t>? Would it better match</a:t>
            </a:r>
            <a:r>
              <a:rPr lang="en-US" sz="2200" b="0" dirty="0">
                <a:solidFill>
                  <a:srgbClr val="333333"/>
                </a:solidFill>
              </a:rPr>
              <a:t> </a:t>
            </a:r>
            <a:r>
              <a:rPr sz="2200" b="0" dirty="0" err="1">
                <a:solidFill>
                  <a:srgbClr val="333333"/>
                </a:solidFill>
              </a:rPr>
              <a:t>snnTorch's</a:t>
            </a:r>
            <a:r>
              <a:rPr sz="2200" b="0" dirty="0">
                <a:solidFill>
                  <a:srgbClr val="333333"/>
                </a:solidFill>
              </a:rPr>
              <a:t> direct current injection model?</a:t>
            </a:r>
          </a:p>
          <a:p>
            <a:pPr>
              <a:spcBef>
                <a:spcPts val="2400"/>
              </a:spcBef>
              <a:spcAft>
                <a:spcPts val="200"/>
              </a:spcAft>
            </a:pPr>
            <a:r>
              <a:rPr sz="2200" b="0" dirty="0">
                <a:solidFill>
                  <a:srgbClr val="333333"/>
                </a:solidFill>
              </a:rPr>
              <a:t>Should we scale weights empirically (grid search) or derive a</a:t>
            </a:r>
            <a:r>
              <a:rPr lang="en-US" sz="2200" b="0" dirty="0">
                <a:solidFill>
                  <a:srgbClr val="333333"/>
                </a:solidFill>
              </a:rPr>
              <a:t> </a:t>
            </a:r>
            <a:r>
              <a:rPr sz="2200" b="0" dirty="0">
                <a:solidFill>
                  <a:srgbClr val="333333"/>
                </a:solidFill>
              </a:rPr>
              <a:t>theoretical correction factor from the </a:t>
            </a:r>
            <a:r>
              <a:rPr sz="2200" b="0" dirty="0" err="1">
                <a:solidFill>
                  <a:srgbClr val="333333"/>
                </a:solidFill>
              </a:rPr>
              <a:t>tau_syn</a:t>
            </a:r>
            <a:r>
              <a:rPr sz="2200" b="0" dirty="0">
                <a:solidFill>
                  <a:srgbClr val="333333"/>
                </a:solidFill>
              </a:rPr>
              <a:t> mismatch?</a:t>
            </a:r>
          </a:p>
          <a:p>
            <a:pPr>
              <a:spcBef>
                <a:spcPts val="2400"/>
              </a:spcBef>
              <a:spcAft>
                <a:spcPts val="200"/>
              </a:spcAft>
            </a:pPr>
            <a:r>
              <a:rPr sz="2200" b="0" dirty="0">
                <a:solidFill>
                  <a:srgbClr val="333333"/>
                </a:solidFill>
              </a:rPr>
              <a:t>Is the FC-only hybrid deployment sufficient for the thesis, even</a:t>
            </a:r>
            <a:r>
              <a:rPr lang="en-US" sz="2200" b="0" dirty="0">
                <a:solidFill>
                  <a:srgbClr val="333333"/>
                </a:solidFill>
              </a:rPr>
              <a:t> </a:t>
            </a:r>
            <a:r>
              <a:rPr sz="2200" b="0" dirty="0">
                <a:solidFill>
                  <a:srgbClr val="333333"/>
                </a:solidFill>
              </a:rPr>
              <a:t>without achieving working accuracy on </a:t>
            </a:r>
            <a:r>
              <a:rPr sz="2200" b="0" dirty="0" err="1">
                <a:solidFill>
                  <a:srgbClr val="333333"/>
                </a:solidFill>
              </a:rPr>
              <a:t>SpiNNaker</a:t>
            </a:r>
            <a:r>
              <a:rPr sz="2200" b="0" dirty="0">
                <a:solidFill>
                  <a:srgbClr val="333333"/>
                </a:solidFill>
              </a:rPr>
              <a:t>?</a:t>
            </a:r>
          </a:p>
          <a:p>
            <a:pPr>
              <a:spcBef>
                <a:spcPts val="2400"/>
              </a:spcBef>
              <a:spcAft>
                <a:spcPts val="200"/>
              </a:spcAft>
            </a:pPr>
            <a:r>
              <a:rPr sz="2200" b="0" dirty="0">
                <a:solidFill>
                  <a:srgbClr val="333333"/>
                </a:solidFill>
              </a:rPr>
              <a:t>Are there published </a:t>
            </a:r>
            <a:r>
              <a:rPr sz="2200" b="0" dirty="0" err="1">
                <a:solidFill>
                  <a:srgbClr val="333333"/>
                </a:solidFill>
              </a:rPr>
              <a:t>snnTorch</a:t>
            </a:r>
            <a:r>
              <a:rPr sz="2200" b="0" dirty="0">
                <a:solidFill>
                  <a:srgbClr val="333333"/>
                </a:solidFill>
              </a:rPr>
              <a:t>-to-</a:t>
            </a:r>
            <a:r>
              <a:rPr sz="2200" b="0" dirty="0" err="1">
                <a:solidFill>
                  <a:srgbClr val="333333"/>
                </a:solidFill>
              </a:rPr>
              <a:t>sPyNNaker</a:t>
            </a:r>
            <a:r>
              <a:rPr sz="2200" b="0" dirty="0">
                <a:solidFill>
                  <a:srgbClr val="333333"/>
                </a:solidFill>
              </a:rPr>
              <a:t> weight transfer</a:t>
            </a:r>
            <a:r>
              <a:rPr lang="en-US" sz="2200" b="0" dirty="0">
                <a:solidFill>
                  <a:srgbClr val="333333"/>
                </a:solidFill>
              </a:rPr>
              <a:t> </a:t>
            </a:r>
            <a:r>
              <a:rPr sz="2200" b="0" dirty="0">
                <a:solidFill>
                  <a:srgbClr val="333333"/>
                </a:solidFill>
              </a:rPr>
              <a:t>protocols we should be following?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0"/>
              </a:spcBef>
            </a:pPr>
            <a:r>
              <a:rPr sz="3000" b="1">
                <a:solidFill>
                  <a:srgbClr val="FFFFFF"/>
                </a:solidFill>
              </a:rPr>
              <a:t>SpiNNaker – Hardware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008000"/>
                </a:solidFill>
              </a:rPr>
              <a:t>Confirmed: Real SpiNNaker neuromorphic hardware (not a simulator)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2000" b="1">
                <a:solidFill>
                  <a:srgbClr val="0066B3"/>
                </a:solidFill>
              </a:rPr>
              <a:t>Key Evidence: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SC&amp;MP 4.0.0 firmware read from physical chip (simulators return fake 3.4.2)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47-48 chips detected per board (one faulty chip = real hardware;
    simulators show perfect 48)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836-855 ARM968 cores per board, 118MB SDRAM per chip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Different physical boards allocated across runs
    (10.11.219.97, .177, .49, .113)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2000" b="1">
                <a:solidFill>
                  <a:srgbClr val="0066B3"/>
                </a:solidFill>
              </a:rPr>
              <a:t>Network &amp; Identity: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DNS/WHOIS: spinnaker.cs.man.ac.uk → 130.88.193.57
    → University of Manchester, Kilburn Building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On-chip IOBUF firmware logs from individual ARM968 processors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0">
                <a:solidFill>
                  <a:srgbClr val="333333"/>
                </a:solidFill>
              </a:rPr>
              <a:t>27-37 second board setup time (real network latency, not instant)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>
                <a:solidFill>
                  <a:srgbClr val="003366"/>
                </a:solidFill>
                <a:latin typeface="Calibri"/>
              </a:rPr>
              <a:t>▶  </a:t>
            </a:r>
            <a:r>
              <a:rPr sz="1800">
                <a:solidFill>
                  <a:srgbClr val="333333"/>
                </a:solidFill>
                <a:latin typeface="Calibri"/>
              </a:rPr>
              <a:t>Complete SpiNNaker inference and compare hardware vs software energy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>
                <a:solidFill>
                  <a:srgbClr val="003366"/>
                </a:solidFill>
                <a:latin typeface="Calibri"/>
              </a:rPr>
              <a:t>▶  </a:t>
            </a:r>
            <a:r>
              <a:rPr sz="1800">
                <a:solidFill>
                  <a:srgbClr val="333333"/>
                </a:solidFill>
                <a:latin typeface="Calibri"/>
              </a:rPr>
              <a:t>Per-class analysis: which sound categories do SNNs handle well/poorly?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>
                <a:solidFill>
                  <a:srgbClr val="003366"/>
                </a:solidFill>
                <a:latin typeface="Calibri"/>
              </a:rPr>
              <a:t>▶  </a:t>
            </a:r>
            <a:r>
              <a:rPr sz="1800">
                <a:solidFill>
                  <a:srgbClr val="333333"/>
                </a:solidFill>
                <a:latin typeface="Calibri"/>
              </a:rPr>
              <a:t>Explore architecture improvements (deeper networks, attention mechanisms)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>
                <a:solidFill>
                  <a:srgbClr val="003366"/>
                </a:solidFill>
                <a:latin typeface="Calibri"/>
              </a:rPr>
              <a:t>▶  </a:t>
            </a:r>
            <a:r>
              <a:rPr sz="1800">
                <a:solidFill>
                  <a:srgbClr val="333333"/>
                </a:solidFill>
                <a:latin typeface="Calibri"/>
              </a:rPr>
              <a:t>Begin thesis report writing (Background, Methodology, Results chapters)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>
                <a:solidFill>
                  <a:srgbClr val="003366"/>
                </a:solidFill>
                <a:latin typeface="Calibri"/>
              </a:rPr>
              <a:t>▶  </a:t>
            </a:r>
            <a:r>
              <a:rPr sz="1800">
                <a:solidFill>
                  <a:srgbClr val="333333"/>
                </a:solidFill>
                <a:latin typeface="Calibri"/>
              </a:rPr>
              <a:t>Statistical significance testing across folds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Improving SNN Accuracy (Beyond 47%)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66B3"/>
                </a:solidFill>
                <a:latin typeface="Calibri"/>
              </a:rPr>
              <a:t>SpiNNaker will reproduce the same ~47% accuracy if mapping works. To push higher: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8000"/>
                </a:solidFill>
                <a:latin typeface="Calibri"/>
              </a:rPr>
              <a:t>Highest Impact (Easy):</a:t>
            </a:r>
          </a:p>
          <a:p>
            <a:r>
              <a:rPr sz="1600" b="1">
                <a:solidFill>
                  <a:srgbClr val="333333"/>
                </a:solidFill>
                <a:latin typeface="Calibri"/>
              </a:rPr>
              <a:t>•  Data augmentation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SpecAugment, time shift, mixup, noise injection</a:t>
            </a:r>
          </a:p>
          <a:p>
            <a:r>
              <a:rPr sz="1300" b="0">
                <a:solidFill>
                  <a:srgbClr val="646464"/>
                </a:solidFill>
                <a:latin typeface="Calibri"/>
              </a:rPr>
              <a:t>    (We currently use none. 1,600 training samples → overfitting is likely)</a:t>
            </a:r>
          </a:p>
          <a:p>
            <a:r>
              <a:rPr sz="1600" b="1">
                <a:solidFill>
                  <a:srgbClr val="333333"/>
                </a:solidFill>
                <a:latin typeface="Calibri"/>
              </a:rPr>
              <a:t>•  Longer training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cosine annealing schedule, 100+ epochs</a:t>
            </a:r>
          </a:p>
          <a:p>
            <a:r>
              <a:rPr sz="1300" b="0">
                <a:solidFill>
                  <a:srgbClr val="646464"/>
                </a:solidFill>
                <a:latin typeface="Calibri"/>
              </a:rPr>
              <a:t>    (Currently max 50 epochs with early stopping)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66B3"/>
                </a:solidFill>
                <a:latin typeface="Calibri"/>
              </a:rPr>
              <a:t>Architecture Changes:</a:t>
            </a:r>
          </a:p>
          <a:p>
            <a:r>
              <a:rPr sz="1600" b="1">
                <a:solidFill>
                  <a:srgbClr val="333333"/>
                </a:solidFill>
                <a:latin typeface="Calibri"/>
              </a:rPr>
              <a:t>•  Deeper network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add 3rd conv layer (Conv2d 64→128)</a:t>
            </a:r>
          </a:p>
          <a:p>
            <a:r>
              <a:rPr sz="1300" b="0">
                <a:solidFill>
                  <a:srgbClr val="646464"/>
                </a:solidFill>
                <a:latin typeface="Calibri"/>
              </a:rPr>
              <a:t>    (Current ~622K params is small; deeper ANNs hit 80%+ on ESC-50)</a:t>
            </a:r>
          </a:p>
          <a:p>
            <a:r>
              <a:rPr sz="1600" b="1">
                <a:solidFill>
                  <a:srgbClr val="333333"/>
                </a:solidFill>
                <a:latin typeface="Calibri"/>
              </a:rPr>
              <a:t>•  More timesteps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increase from 25 to 50–100</a:t>
            </a:r>
          </a:p>
          <a:p>
            <a:r>
              <a:rPr sz="1300" b="0">
                <a:solidFill>
                  <a:srgbClr val="646464"/>
                </a:solidFill>
                <a:latin typeface="Calibri"/>
              </a:rPr>
              <a:t>    (More time for temporal integration, at cost of training speed)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CC0000"/>
                </a:solidFill>
                <a:latin typeface="Calibri"/>
              </a:rPr>
              <a:t>Advanced:</a:t>
            </a:r>
          </a:p>
          <a:p>
            <a:r>
              <a:rPr sz="1600" b="1">
                <a:solidFill>
                  <a:srgbClr val="333333"/>
                </a:solidFill>
                <a:latin typeface="Calibri"/>
              </a:rPr>
              <a:t>•  Learnable encoding layer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trainable spike generator instead of repeating spectrogram</a:t>
            </a:r>
          </a:p>
          <a:p>
            <a:r>
              <a:rPr sz="1600" b="1">
                <a:solidFill>
                  <a:srgbClr val="333333"/>
                </a:solidFill>
                <a:latin typeface="Calibri"/>
              </a:rPr>
              <a:t>•  Transfer learning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pre-trained audio features (VGGish/PANNs) + SNN classifier</a:t>
            </a:r>
          </a:p>
          <a:p>
            <a:r>
              <a:rPr sz="1600" b="1">
                <a:solidFill>
                  <a:srgbClr val="333333"/>
                </a:solidFill>
                <a:latin typeface="Calibri"/>
              </a:rPr>
              <a:t>•  Membrane potential readout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weighted combo of spike count + final voltage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66B3"/>
                </a:solidFill>
                <a:latin typeface="Calibri"/>
              </a:rPr>
              <a:t>Most practical next step: data augmentation + longer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References &amp;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3366"/>
                </a:solidFill>
                <a:latin typeface="Calibri"/>
              </a:rPr>
              <a:t>Papers &amp; Research: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Piczak, K.J. (2015). ESC: Dataset for Environmental Sound Classification. ACM MM.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arXiv 2503.11206 (2025). Confirms no prior SNN work on ESC-50.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Eshraghian, J.K. et al. (2023). Training Spiking Neural Networks Using Lessons from Deep Learning. Proc. IEEE.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Bittar, A. &amp; Garner, P.N. (2022). A surrogate gradient spiking baseline for speech command recognition. Front. Neurosci.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Wu, J. et al. (2020). A Tandem Learning Rule for Effective Training and Rapid Inference of Deep SNNs. arXiv.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Horowitz, M. (2014). Computing's Energy Problem. ISSCC. [Energy per MAC: 4.6 pJ at 45nm]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Davies, M. et al. (2018). Loihi: A Neuromorphic Manycore Processor. IEEE Micro. [Energy per SynOp: 0.9 pJ]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Furber, S.B. et al. (2014). The SpiNNaker Project. Proc. IEEE.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Rhodes, O. et al. (2018). sPyNNaker: A Software Package for Running PyNN Simulations on SpiNNaker. Front. Neurosci.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Rowley, A. et al. (2019). SpiNNTools: The Execution Engine for the SpiNNaker Platform. Front. Neurosci.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3366"/>
                </a:solidFill>
                <a:latin typeface="Calibri"/>
              </a:rPr>
              <a:t>Software &amp; Tools: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snnTorch 0.9.4 -- github.com/jeshraghian/snntorch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sPyNNaker 7.4.1 -- github.com/SpiNNakerManchester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PyNN 0.12.4 -- neuralensemble.org/PyNN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PyTorch 2.6 -- pytorch.org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librosa -- librosa.org (audio/mel spectrogram processing)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ESC-50 Dataset -- github.com/karolpiczak/ESC-50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3366"/>
                </a:solidFill>
                <a:latin typeface="Calibri"/>
              </a:rPr>
              <a:t>SpiNNaker Documentation: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spinnakermanchester.github.io -- Official sPyNNaker docs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spalloc.readthedocs.io -- Board allocation system</a:t>
            </a:r>
          </a:p>
          <a:p>
            <a:pPr marL="228600" indent="-171450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SpiNNaker Wikipedia -- en.wikipedia.org/wiki/SpiNNaker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00400"/>
            <a:ext cx="4876495" cy="38100"/>
          </a:xfrm>
          <a:prstGeom prst="rect">
            <a:avLst/>
          </a:prstGeom>
          <a:solidFill>
            <a:srgbClr val="6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B4D2F0"/>
                </a:solidFill>
                <a:latin typeface="Calibri"/>
              </a:rPr>
              <a:t>Project repo: snn-esc50/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B4D2F0"/>
                </a:solidFill>
                <a:latin typeface="Calibri"/>
              </a:rPr>
              <a:t>Trained on: CSF3 (A100 GPUs) + SpiNNaker (neuromorphic hardware)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B4D2F0"/>
                </a:solidFill>
                <a:latin typeface="Calibri"/>
              </a:rPr>
              <a:t>Tools: snnTorch, librosa, PyTorch, sPyNNaker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2548</Words>
  <Application>Microsoft Macintosh PowerPoint</Application>
  <PresentationFormat>Widescreen</PresentationFormat>
  <Paragraphs>290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Kumar</cp:lastModifiedBy>
  <cp:revision>3</cp:revision>
  <dcterms:created xsi:type="dcterms:W3CDTF">2013-01-27T09:14:16Z</dcterms:created>
  <dcterms:modified xsi:type="dcterms:W3CDTF">2026-03-03T14:31:56Z</dcterms:modified>
  <cp:category/>
</cp:coreProperties>
</file>